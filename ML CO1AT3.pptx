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Decision Tree Learning and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Machine Learning</a:t>
            </a:r>
          </a:p>
          <a:p>
            <a:pPr>
              <a:spcAft>
                <a:spcPts val="1200"/>
              </a:spcAft>
              <a:defRPr sz="2000"/>
            </a:pPr>
            <a:r>
              <a:t>10-slide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What is a Decision Tree?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 decision tree is a supervised learning model used for classification and prediction.</a:t>
            </a:r>
          </a:p>
          <a:p>
            <a:pPr>
              <a:spcAft>
                <a:spcPts val="1200"/>
              </a:spcAft>
              <a:defRPr sz="2000"/>
            </a:pPr>
            <a:r>
              <a:t>• It represents decisions as a tree-like structure.</a:t>
            </a:r>
          </a:p>
          <a:p>
            <a:pPr>
              <a:spcAft>
                <a:spcPts val="1200"/>
              </a:spcAft>
              <a:defRPr sz="2000"/>
            </a:pPr>
            <a:r>
              <a:t>• Internal nodes represent tests on attributes.</a:t>
            </a:r>
          </a:p>
          <a:p>
            <a:pPr>
              <a:spcAft>
                <a:spcPts val="1200"/>
              </a:spcAft>
              <a:defRPr sz="2000"/>
            </a:pPr>
            <a:r>
              <a:t>• Branches represent outcomes of tests.</a:t>
            </a:r>
          </a:p>
          <a:p>
            <a:pPr>
              <a:spcAft>
                <a:spcPts val="1200"/>
              </a:spcAft>
              <a:defRPr sz="2000"/>
            </a:pPr>
            <a:r>
              <a:t>• Leaf nodes represent the final prediction or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Structure of a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Root Node – the starting point of the decision process.</a:t>
            </a:r>
          </a:p>
          <a:p>
            <a:pPr>
              <a:spcAft>
                <a:spcPts val="1200"/>
              </a:spcAft>
              <a:defRPr sz="2000"/>
            </a:pPr>
            <a:r>
              <a:t>• Internal Node – performs a test on an attribute.</a:t>
            </a:r>
          </a:p>
          <a:p>
            <a:pPr>
              <a:spcAft>
                <a:spcPts val="1200"/>
              </a:spcAft>
              <a:defRPr sz="2000"/>
            </a:pPr>
            <a:r>
              <a:t>• Branch – represents a possible outcome.</a:t>
            </a:r>
          </a:p>
          <a:p>
            <a:pPr>
              <a:spcAft>
                <a:spcPts val="1200"/>
              </a:spcAft>
              <a:defRPr sz="2000"/>
            </a:pPr>
            <a:r>
              <a:t>• Leaf Node – gives the final class or decision.</a:t>
            </a:r>
          </a:p>
          <a:p>
            <a:pPr>
              <a:spcAft>
                <a:spcPts val="1200"/>
              </a:spcAft>
              <a:defRPr sz="2000"/>
            </a:pPr>
            <a:r>
              <a:t>• The tree converts complex decisions into simple if–then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How Decision Tree Learning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Start with the complete training dataset.</a:t>
            </a:r>
          </a:p>
          <a:p>
            <a:pPr>
              <a:spcAft>
                <a:spcPts val="1200"/>
              </a:spcAft>
              <a:defRPr sz="2000"/>
            </a:pPr>
            <a:r>
              <a:t>2. Select the best attribute for splitting the data.</a:t>
            </a:r>
          </a:p>
          <a:p>
            <a:pPr>
              <a:spcAft>
                <a:spcPts val="1200"/>
              </a:spcAft>
              <a:defRPr sz="2000"/>
            </a:pPr>
            <a:r>
              <a:t>3. Divide the dataset according to the selected attribute.</a:t>
            </a:r>
          </a:p>
          <a:p>
            <a:pPr>
              <a:spcAft>
                <a:spcPts val="1200"/>
              </a:spcAft>
              <a:defRPr sz="2000"/>
            </a:pPr>
            <a:r>
              <a:t>4. Repeat the process for each subset.</a:t>
            </a:r>
          </a:p>
          <a:p>
            <a:pPr>
              <a:spcAft>
                <a:spcPts val="1200"/>
              </a:spcAft>
              <a:defRPr sz="2000"/>
            </a:pPr>
            <a:r>
              <a:t>5. Stop when the data is sufficiently pure or a stopping condition is reached.</a:t>
            </a:r>
          </a:p>
          <a:p>
            <a:pPr>
              <a:spcAft>
                <a:spcPts val="1200"/>
              </a:spcAft>
              <a:defRPr sz="2000"/>
            </a:pPr>
            <a:r>
              <a:t>6. Assign a class/decision to each leaf.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Entropy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Entropy measures the impurity or uncertainty in a dataset.</a:t>
            </a:r>
          </a:p>
          <a:p>
            <a:pPr>
              <a:spcAft>
                <a:spcPts val="1200"/>
              </a:spcAft>
              <a:defRPr sz="2000"/>
            </a:pPr>
            <a:r>
              <a:t>• Entropy = 0 when all examples belong to one class.</a:t>
            </a:r>
          </a:p>
          <a:p>
            <a:pPr>
              <a:spcAft>
                <a:spcPts val="1200"/>
              </a:spcAft>
              <a:defRPr sz="2000"/>
            </a:pPr>
            <a:r>
              <a:t>• Higher entropy means greater uncertainty.</a:t>
            </a:r>
          </a:p>
          <a:p>
            <a:pPr>
              <a:spcAft>
                <a:spcPts val="1200"/>
              </a:spcAft>
              <a:defRPr sz="2000"/>
            </a:pPr>
            <a:r>
              <a:t>• Formula: H(S) = −Σ pᵢ log₂(pᵢ)</a:t>
            </a:r>
          </a:p>
          <a:p>
            <a:pPr>
              <a:spcAft>
                <a:spcPts val="1200"/>
              </a:spcAft>
              <a:defRPr sz="2000"/>
            </a:pPr>
            <a:r>
              <a:t>• It helps decide which attribute gives a better split.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Information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Information Gain measures how much uncertainty is reduced after a split.</a:t>
            </a:r>
          </a:p>
          <a:p>
            <a:pPr>
              <a:spcAft>
                <a:spcPts val="1200"/>
              </a:spcAft>
              <a:defRPr sz="2000"/>
            </a:pPr>
            <a:r>
              <a:t>• The attribute with higher information gain is generally preferred.</a:t>
            </a:r>
          </a:p>
          <a:p>
            <a:pPr>
              <a:spcAft>
                <a:spcPts val="1200"/>
              </a:spcAft>
              <a:defRPr sz="2000"/>
            </a:pPr>
            <a:r>
              <a:t>• Formula: IG(S,A) = H(S) − Σ (|Sᵥ|/|S|) H(Sᵥ)</a:t>
            </a:r>
          </a:p>
          <a:p>
            <a:pPr>
              <a:spcAft>
                <a:spcPts val="1200"/>
              </a:spcAft>
              <a:defRPr sz="2000"/>
            </a:pPr>
            <a:r>
              <a:t>• It is commonly used in algorithms such as ID3.</a:t>
            </a:r>
          </a:p>
          <a:p>
            <a:pPr>
              <a:spcAft>
                <a:spcPts val="1200"/>
              </a:spcAft>
              <a:defRPr sz="2000"/>
            </a:pPr>
            <a:r>
              <a:t>• Example: A good split creates groups that are mostly one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Tree Pruning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Pruning removes unnecessary branches from a decision tree.</a:t>
            </a:r>
          </a:p>
          <a:p>
            <a:pPr>
              <a:spcAft>
                <a:spcPts val="1200"/>
              </a:spcAft>
              <a:defRPr sz="2000"/>
            </a:pPr>
            <a:r>
              <a:t>• It reduces overfitting to the training data.</a:t>
            </a:r>
          </a:p>
          <a:p>
            <a:pPr>
              <a:spcAft>
                <a:spcPts val="1200"/>
              </a:spcAft>
              <a:defRPr sz="2000"/>
            </a:pPr>
            <a:r>
              <a:t>• Pre-pruning stops tree growth early using conditions such as minimum samples or maximum depth.</a:t>
            </a:r>
          </a:p>
          <a:p>
            <a:pPr>
              <a:spcAft>
                <a:spcPts val="1200"/>
              </a:spcAft>
              <a:defRPr sz="2000"/>
            </a:pPr>
            <a:r>
              <a:t>• Post-pruning grows the tree and then removes weak branches.</a:t>
            </a:r>
          </a:p>
          <a:p>
            <a:pPr>
              <a:spcAft>
                <a:spcPts val="1200"/>
              </a:spcAft>
              <a:defRPr sz="2000"/>
            </a:pPr>
            <a:r>
              <a:t>• A smaller tree is often easier to understand and generalize.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Knowledge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 decision tree represents knowledge as a hierarchy of decisions.</a:t>
            </a:r>
          </a:p>
          <a:p>
            <a:pPr>
              <a:spcAft>
                <a:spcPts val="1200"/>
              </a:spcAft>
              <a:defRPr sz="2000"/>
            </a:pPr>
            <a:r>
              <a:t>• Each root-to-leaf path can be written as an IF–THEN rule.</a:t>
            </a:r>
          </a:p>
          <a:p>
            <a:pPr>
              <a:spcAft>
                <a:spcPts val="1200"/>
              </a:spcAft>
              <a:defRPr sz="2000"/>
            </a:pPr>
            <a:r>
              <a:t>• Example: IF Weather = Sunny AND Humidity = Normal → Play = Yes.</a:t>
            </a:r>
          </a:p>
          <a:p>
            <a:pPr>
              <a:spcAft>
                <a:spcPts val="1200"/>
              </a:spcAft>
              <a:defRPr sz="2000"/>
            </a:pPr>
            <a:r>
              <a:t>• This representation is easy for humans to interpret.</a:t>
            </a:r>
          </a:p>
          <a:p>
            <a:pPr>
              <a:spcAft>
                <a:spcPts val="1200"/>
              </a:spcAft>
              <a:defRPr sz="2000"/>
            </a:pPr>
            <a:r>
              <a:t>• Trees can therefore support both prediction and explanation.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Classification &amp; Decision-Making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For classification, the tree predicts the class of a new data record.</a:t>
            </a:r>
          </a:p>
          <a:p>
            <a:pPr>
              <a:spcAft>
                <a:spcPts val="1200"/>
              </a:spcAft>
              <a:defRPr sz="2000"/>
            </a:pPr>
            <a:r>
              <a:t>• Follow the branches according to the record's attribute values.</a:t>
            </a:r>
          </a:p>
          <a:p>
            <a:pPr>
              <a:spcAft>
                <a:spcPts val="1200"/>
              </a:spcAft>
              <a:defRPr sz="2000"/>
            </a:pPr>
            <a:r>
              <a:t>• Stop at a leaf to obtain the prediction.</a:t>
            </a:r>
          </a:p>
          <a:p>
            <a:pPr>
              <a:spcAft>
                <a:spcPts val="1200"/>
              </a:spcAft>
              <a:defRPr sz="2000"/>
            </a:pPr>
            <a:r>
              <a:t>• Decision trees are used in areas such as customer classification, risk assessment, diagnosis support, and recommendation systems.</a:t>
            </a:r>
          </a:p>
          <a:p>
            <a:pPr>
              <a:spcAft>
                <a:spcPts val="1200"/>
              </a:spcAft>
              <a:defRPr sz="2000"/>
            </a:pPr>
            <a:r>
              <a:t>• They can also support business and operational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Advantages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Advantages:</a:t>
            </a:r>
          </a:p>
          <a:p>
            <a:pPr>
              <a:spcAft>
                <a:spcPts val="1200"/>
              </a:spcAft>
              <a:defRPr sz="1800"/>
            </a:pPr>
            <a:r>
              <a:t>• Easy to understand and visualize.</a:t>
            </a:r>
          </a:p>
          <a:p>
            <a:pPr>
              <a:spcAft>
                <a:spcPts val="1200"/>
              </a:spcAft>
              <a:defRPr sz="1800"/>
            </a:pPr>
            <a:r>
              <a:t>• Requires relatively little data preprocessing.</a:t>
            </a:r>
          </a:p>
          <a:p>
            <a:pPr>
              <a:spcAft>
                <a:spcPts val="1200"/>
              </a:spcAft>
              <a:defRPr sz="1800"/>
            </a:pPr>
            <a:r>
              <a:t>• Handles numerical and categorical features.</a:t>
            </a:r>
          </a:p>
          <a:p>
            <a:pPr>
              <a:spcAft>
                <a:spcPts val="1200"/>
              </a:spcAft>
              <a:defRPr sz="1800"/>
            </a:pPr>
            <a:r>
              <a:t>• Produces interpretable rules.</a:t>
            </a:r>
          </a:p>
          <a:p>
            <a:pPr>
              <a:spcAft>
                <a:spcPts val="1200"/>
              </a:spcAft>
              <a:defRPr sz="1800"/>
            </a:pPr>
            <a:r>
              <a:t>Limitations:</a:t>
            </a:r>
          </a:p>
          <a:p>
            <a:pPr>
              <a:spcAft>
                <a:spcPts val="1200"/>
              </a:spcAft>
              <a:defRPr sz="1800"/>
            </a:pPr>
            <a:r>
              <a:t>• Can overfit without pruning or other controls.</a:t>
            </a:r>
          </a:p>
          <a:p>
            <a:pPr>
              <a:spcAft>
                <a:spcPts val="1200"/>
              </a:spcAft>
              <a:defRPr sz="1800"/>
            </a:pPr>
            <a:r>
              <a:t>• Small data changes can create a different tree.</a:t>
            </a:r>
          </a:p>
          <a:p>
            <a:pPr>
              <a:spcAft>
                <a:spcPts val="1200"/>
              </a:spcAft>
              <a:defRPr sz="1800"/>
            </a:pPr>
            <a:r>
              <a:t>• Very deep trees can become complex.</a:t>
            </a:r>
          </a:p>
          <a:p>
            <a:pPr>
              <a:spcAft>
                <a:spcPts val="1200"/>
              </a:spcAft>
              <a:defRPr sz="1800"/>
            </a:pPr>
            <a:r>
              <a:t>• Some splitting criteria can favor certain attributes.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Decision trees learn a sequence of decisions from training data.</a:t>
            </a:r>
          </a:p>
          <a:p>
            <a:pPr>
              <a:spcAft>
                <a:spcPts val="1200"/>
              </a:spcAft>
              <a:defRPr sz="2000"/>
            </a:pPr>
            <a:r>
              <a:t>• Entropy measures uncertainty, while information gain helps select useful splits.</a:t>
            </a:r>
          </a:p>
          <a:p>
            <a:pPr>
              <a:spcAft>
                <a:spcPts val="1200"/>
              </a:spcAft>
              <a:defRPr sz="2000"/>
            </a:pPr>
            <a:r>
              <a:t>• Pruning controls tree size and reduces overfitting.</a:t>
            </a:r>
          </a:p>
          <a:p>
            <a:pPr>
              <a:spcAft>
                <a:spcPts val="1200"/>
              </a:spcAft>
              <a:defRPr sz="2000"/>
            </a:pPr>
            <a:r>
              <a:t>• Knowledge is represented as nodes, branches, leaves, and IF–THEN rules.</a:t>
            </a:r>
          </a:p>
          <a:p>
            <a:pPr>
              <a:spcAft>
                <a:spcPts val="1200"/>
              </a:spcAft>
              <a:defRPr sz="2000"/>
            </a:pPr>
            <a:r>
              <a:t>• Decision trees are useful for classification, prediction, and decision-making because they are simple and interpretable.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